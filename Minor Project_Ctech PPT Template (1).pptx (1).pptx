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753600" cy="7315200"/>
  <p:notesSz cx="6858000" cy="9144000"/>
  <p:embeddedFontLst>
    <p:embeddedFont>
      <p:font typeface="Times New Roman" charset="1" panose="02020603050405020304"/>
      <p:regular r:id="rId22"/>
    </p:embeddedFont>
    <p:embeddedFont>
      <p:font typeface="Times New Roman Bold" charset="1" panose="020208030705050203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1725558"/>
            <a:ext cx="8638784" cy="2371593"/>
            <a:chOff x="0" y="0"/>
            <a:chExt cx="11518379" cy="31621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18380" cy="3162126"/>
            </a:xfrm>
            <a:custGeom>
              <a:avLst/>
              <a:gdLst/>
              <a:ahLst/>
              <a:cxnLst/>
              <a:rect r="r" b="b" t="t" l="l"/>
              <a:pathLst>
                <a:path h="3162126" w="11518380">
                  <a:moveTo>
                    <a:pt x="0" y="0"/>
                  </a:moveTo>
                  <a:lnTo>
                    <a:pt x="11518380" y="0"/>
                  </a:lnTo>
                  <a:lnTo>
                    <a:pt x="11518380" y="3162126"/>
                  </a:lnTo>
                  <a:lnTo>
                    <a:pt x="0" y="3162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56" r="4030" b="-11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518379" cy="3190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Edge Preserving </a:t>
              </a:r>
              <a:r>
                <a:rPr lang="en-US" sz="469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Enhancement of Spinal Anatomy in Low-Field MRI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722847" y="4310329"/>
            <a:ext cx="4729505" cy="163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</a:pPr>
            <a:r>
              <a:rPr lang="en-US" sz="1877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ID: B929</a:t>
            </a:r>
          </a:p>
          <a:p>
            <a:pPr algn="ctr">
              <a:lnSpc>
                <a:spcPts val="1802"/>
              </a:lnSpc>
            </a:pPr>
          </a:p>
          <a:p>
            <a:pPr algn="ctr">
              <a:lnSpc>
                <a:spcPts val="1802"/>
              </a:lnSpc>
            </a:pPr>
            <a:r>
              <a:rPr lang="en-US" sz="1877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1 Reg. No: RA2311003011460</a:t>
            </a:r>
          </a:p>
          <a:p>
            <a:pPr algn="ctr">
              <a:lnSpc>
                <a:spcPts val="1802"/>
              </a:lnSpc>
            </a:pPr>
            <a:r>
              <a:rPr lang="en-US" sz="1877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1 Name: T Barathkalyan</a:t>
            </a:r>
          </a:p>
          <a:p>
            <a:pPr algn="ctr">
              <a:lnSpc>
                <a:spcPts val="1802"/>
              </a:lnSpc>
            </a:pPr>
          </a:p>
          <a:p>
            <a:pPr algn="ctr">
              <a:lnSpc>
                <a:spcPts val="1802"/>
              </a:lnSpc>
            </a:pPr>
            <a:r>
              <a:rPr lang="en-US" sz="1877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2 Reg. No: RA2311003011470</a:t>
            </a:r>
          </a:p>
          <a:p>
            <a:pPr algn="ctr">
              <a:lnSpc>
                <a:spcPts val="1802"/>
              </a:lnSpc>
            </a:pPr>
            <a:r>
              <a:rPr lang="en-US" sz="1877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2 Name: Sarukeshwar 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8590" y="259832"/>
            <a:ext cx="1495911" cy="545411"/>
            <a:chOff x="0" y="0"/>
            <a:chExt cx="1994548" cy="7272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4535" cy="727202"/>
            </a:xfrm>
            <a:custGeom>
              <a:avLst/>
              <a:gdLst/>
              <a:ahLst/>
              <a:cxnLst/>
              <a:rect r="r" b="b" t="t" l="l"/>
              <a:pathLst>
                <a:path h="727202" w="1994535">
                  <a:moveTo>
                    <a:pt x="0" y="0"/>
                  </a:moveTo>
                  <a:lnTo>
                    <a:pt x="1994535" y="0"/>
                  </a:lnTo>
                  <a:lnTo>
                    <a:pt x="1994535" y="727202"/>
                  </a:lnTo>
                  <a:lnTo>
                    <a:pt x="0" y="727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063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92046" y="323469"/>
            <a:ext cx="6400829" cy="120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b="true" sz="192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SRM INSTITUTE OF SCIENCE AND TECHNOLOGY </a:t>
            </a:r>
          </a:p>
          <a:p>
            <a:pPr algn="ctr">
              <a:lnSpc>
                <a:spcPts val="2304"/>
              </a:lnSpc>
            </a:pPr>
            <a:r>
              <a:rPr lang="en-US" b="true" sz="192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SCHOOL OF COMPUTING</a:t>
            </a:r>
          </a:p>
          <a:p>
            <a:pPr algn="ctr">
              <a:lnSpc>
                <a:spcPts val="2304"/>
              </a:lnSpc>
            </a:pPr>
            <a:r>
              <a:rPr lang="en-US" b="true" sz="192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COMPUTING TECHNOLOGIES</a:t>
            </a:r>
          </a:p>
          <a:p>
            <a:pPr algn="ctr">
              <a:lnSpc>
                <a:spcPts val="2304"/>
              </a:lnSpc>
            </a:pPr>
            <a:r>
              <a:rPr lang="en-US" b="true" sz="192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21CSP302L - MINOR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28822" y="4565636"/>
            <a:ext cx="4288489" cy="1013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4"/>
              </a:lnSpc>
            </a:pPr>
            <a:r>
              <a:rPr lang="en-US" sz="166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name: Dr.E. Poovammal</a:t>
            </a:r>
          </a:p>
          <a:p>
            <a:pPr algn="ctr">
              <a:lnSpc>
                <a:spcPts val="2714"/>
              </a:lnSpc>
            </a:pPr>
            <a:r>
              <a:rPr lang="en-US" sz="166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Designation: Professor</a:t>
            </a:r>
          </a:p>
          <a:p>
            <a:pPr algn="ctr">
              <a:lnSpc>
                <a:spcPts val="2714"/>
              </a:lnSpc>
            </a:pPr>
            <a:r>
              <a:rPr lang="en-US" sz="166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Department: C.Tech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177146" y="91583"/>
            <a:ext cx="1576454" cy="742426"/>
            <a:chOff x="0" y="0"/>
            <a:chExt cx="2101939" cy="989901"/>
          </a:xfrm>
        </p:grpSpPr>
        <p:sp>
          <p:nvSpPr>
            <p:cNvPr name="Freeform 11" id="11" descr="icot 2023 Trifold Brochure_14.02.2023"/>
            <p:cNvSpPr/>
            <p:nvPr/>
          </p:nvSpPr>
          <p:spPr>
            <a:xfrm flipH="false" flipV="false" rot="0">
              <a:off x="0" y="0"/>
              <a:ext cx="2101977" cy="989965"/>
            </a:xfrm>
            <a:custGeom>
              <a:avLst/>
              <a:gdLst/>
              <a:ahLst/>
              <a:cxnLst/>
              <a:rect r="r" b="b" t="t" l="l"/>
              <a:pathLst>
                <a:path h="989965" w="2101977">
                  <a:moveTo>
                    <a:pt x="0" y="0"/>
                  </a:moveTo>
                  <a:lnTo>
                    <a:pt x="2101977" y="0"/>
                  </a:lnTo>
                  <a:lnTo>
                    <a:pt x="2101977" y="989965"/>
                  </a:lnTo>
                  <a:lnTo>
                    <a:pt x="0" y="989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9106" y="1873291"/>
            <a:ext cx="8595389" cy="333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Low-field MRI (0.1–0.5 T) produces 3–6× noisier images</a:t>
            </a:r>
          </a:p>
          <a:p>
            <a:pPr algn="just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Causes blurred disc edges &amp; unclear nerve compression</a:t>
            </a:r>
          </a:p>
          <a:p>
            <a:pPr algn="just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fat–fluid contrast → affects diagnosis</a:t>
            </a:r>
          </a:p>
          <a:p>
            <a:pPr algn="just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solutions rely on AI super-resolutionNeed large paired datasets</a:t>
            </a:r>
          </a:p>
          <a:p>
            <a:pPr algn="just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 high-end GPUs</a:t>
            </a:r>
          </a:p>
          <a:p>
            <a:pPr algn="just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 as black-box models (low interpretability)</a:t>
            </a:r>
          </a:p>
          <a:p>
            <a:pPr algn="just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 practical for small clinics or real-world deployment</a:t>
            </a:r>
          </a:p>
          <a:p>
            <a:pPr algn="just">
              <a:lnSpc>
                <a:spcPts val="276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96645" y="269248"/>
            <a:ext cx="2103825" cy="641995"/>
            <a:chOff x="0" y="0"/>
            <a:chExt cx="2805100" cy="8559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-1056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96254" y="269248"/>
            <a:ext cx="8778240" cy="1219200"/>
            <a:chOff x="0" y="0"/>
            <a:chExt cx="11704320" cy="1625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Problem Statement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29568" y="187571"/>
            <a:ext cx="1710061" cy="805348"/>
            <a:chOff x="0" y="0"/>
            <a:chExt cx="2280082" cy="1073798"/>
          </a:xfrm>
        </p:grpSpPr>
        <p:sp>
          <p:nvSpPr>
            <p:cNvPr name="Freeform 9" id="9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51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Objectives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06" y="1933586"/>
            <a:ext cx="8595389" cy="447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</a:t>
            </a: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imulate realistic low-field MRI from high-field data by modeling noise and resolution los</a:t>
            </a: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</a:p>
          <a:p>
            <a:pPr algn="just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structured enhancement pipeline for systematic image restoration</a:t>
            </a:r>
          </a:p>
          <a:p>
            <a:pPr algn="just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contrast, clarity, and anatomical visibility for better diagnosis</a:t>
            </a:r>
          </a:p>
          <a:p>
            <a:pPr algn="just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 structural integrity and avoid distortion of anatomical details</a:t>
            </a:r>
          </a:p>
          <a:p>
            <a:pPr algn="just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performance using PSNR, SSIM, and SNR against high-field reference</a:t>
            </a:r>
          </a:p>
          <a:p>
            <a:pPr algn="just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fast, interpretable, non-AI solution suitable for real-world use</a:t>
            </a:r>
          </a:p>
          <a:p>
            <a:pPr algn="just">
              <a:lnSpc>
                <a:spcPts val="276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43840" y="590245"/>
            <a:ext cx="2103825" cy="641995"/>
            <a:chOff x="0" y="0"/>
            <a:chExt cx="2805100" cy="855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9" id="9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51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Literature Review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3840" y="590245"/>
            <a:ext cx="2103825" cy="641995"/>
            <a:chOff x="0" y="0"/>
            <a:chExt cx="2805100" cy="855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8" id="8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396683" y="1305220"/>
          <a:ext cx="8778240" cy="5544026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926080"/>
              </a:tblGrid>
              <a:tr h="7281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Work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Method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Limitation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76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Arnold et al. (2022)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Simulated low-field MRI from high-field using noise + smoothing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Does not fully model real low-field physics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95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Setty et al. (2014)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Multi-scale Retinex for contrast enhancement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complexity, limited clinical validation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95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Arnold et al. (2023)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 of low-field MRI applications and challenges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experimental validation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95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Salehi et al. (2025)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(U-Net) for denoising low-field MRI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large data, limited real-world validation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95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Kaur et al. (2016)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Histogram-based contrast enhancement (CLAHE, HE)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May amplify noise, lacks advanced comparison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51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Literature Review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3840" y="590245"/>
            <a:ext cx="2103825" cy="641995"/>
            <a:chOff x="0" y="0"/>
            <a:chExt cx="2805100" cy="855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8" id="8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396683" y="2130997"/>
          <a:ext cx="8778240" cy="3467576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926080"/>
              </a:tblGrid>
              <a:tr h="7303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Work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Method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Limitation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23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Tustison et al. (2010)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N4 bias field correction method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Parameter-sensitive, computational cost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23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Isa et al. (2017)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histogram-based enhancement (AIR-AHE)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dataset, limited generalization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23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Fish et al. (1995)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Richardson–Lucy deconvolution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Sensitive to noise, high iterations required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51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Literature Review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87680" y="1800225"/>
            <a:ext cx="8778240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Gap:</a:t>
            </a:r>
          </a:p>
          <a:p>
            <a:pPr algn="just">
              <a:lnSpc>
                <a:spcPts val="276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end-to-end classical pipeline for low-field lumbar spine MRI enhancement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methods address only individual steps (denoising, contrast, etc.)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Heavy reliance on deep learning approaches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interpretability and reproducibility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validation on real low-field lumbar spine data</a:t>
            </a:r>
          </a:p>
          <a:p>
            <a:pPr algn="just">
              <a:lnSpc>
                <a:spcPts val="276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43840" y="590245"/>
            <a:ext cx="2103825" cy="641995"/>
            <a:chOff x="0" y="0"/>
            <a:chExt cx="2805100" cy="855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9" id="9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6819" y="121920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Proposed 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861" y="499872"/>
            <a:ext cx="2103825" cy="641995"/>
            <a:chOff x="0" y="0"/>
            <a:chExt cx="2805100" cy="855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8" id="8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34097" y="1533713"/>
            <a:ext cx="6863685" cy="4606062"/>
          </a:xfrm>
          <a:custGeom>
            <a:avLst/>
            <a:gdLst/>
            <a:ahLst/>
            <a:cxnLst/>
            <a:rect r="r" b="b" t="t" l="l"/>
            <a:pathLst>
              <a:path h="4606062" w="6863685">
                <a:moveTo>
                  <a:pt x="0" y="0"/>
                </a:moveTo>
                <a:lnTo>
                  <a:pt x="6863684" y="0"/>
                </a:lnTo>
                <a:lnTo>
                  <a:pt x="6863684" y="4606062"/>
                </a:lnTo>
                <a:lnTo>
                  <a:pt x="0" y="4606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425" t="0" r="-11425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01514" y="991548"/>
            <a:ext cx="3550572" cy="6123708"/>
          </a:xfrm>
          <a:custGeom>
            <a:avLst/>
            <a:gdLst/>
            <a:ahLst/>
            <a:cxnLst/>
            <a:rect r="r" b="b" t="t" l="l"/>
            <a:pathLst>
              <a:path h="6123708" w="3550572">
                <a:moveTo>
                  <a:pt x="0" y="0"/>
                </a:moveTo>
                <a:lnTo>
                  <a:pt x="3550572" y="0"/>
                </a:lnTo>
                <a:lnTo>
                  <a:pt x="3550572" y="6123708"/>
                </a:lnTo>
                <a:lnTo>
                  <a:pt x="0" y="6123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4" r="0" b="-188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43297" y="1596894"/>
            <a:ext cx="432169" cy="423655"/>
            <a:chOff x="0" y="0"/>
            <a:chExt cx="160063" cy="1569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063" cy="156909"/>
            </a:xfrm>
            <a:custGeom>
              <a:avLst/>
              <a:gdLst/>
              <a:ahLst/>
              <a:cxnLst/>
              <a:rect r="r" b="b" t="t" l="l"/>
              <a:pathLst>
                <a:path h="156909" w="160063">
                  <a:moveTo>
                    <a:pt x="0" y="0"/>
                  </a:moveTo>
                  <a:lnTo>
                    <a:pt x="160063" y="0"/>
                  </a:lnTo>
                  <a:lnTo>
                    <a:pt x="160063" y="156909"/>
                  </a:lnTo>
                  <a:lnTo>
                    <a:pt x="0" y="156909"/>
                  </a:lnTo>
                  <a:close/>
                </a:path>
              </a:pathLst>
            </a:custGeom>
            <a:solidFill>
              <a:srgbClr val="D8DBD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60063" cy="185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572566" y="6443900"/>
            <a:ext cx="432169" cy="423655"/>
            <a:chOff x="0" y="0"/>
            <a:chExt cx="160063" cy="1569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063" cy="156909"/>
            </a:xfrm>
            <a:custGeom>
              <a:avLst/>
              <a:gdLst/>
              <a:ahLst/>
              <a:cxnLst/>
              <a:rect r="r" b="b" t="t" l="l"/>
              <a:pathLst>
                <a:path h="156909" w="160063">
                  <a:moveTo>
                    <a:pt x="0" y="0"/>
                  </a:moveTo>
                  <a:lnTo>
                    <a:pt x="160063" y="0"/>
                  </a:lnTo>
                  <a:lnTo>
                    <a:pt x="160063" y="156909"/>
                  </a:lnTo>
                  <a:lnTo>
                    <a:pt x="0" y="156909"/>
                  </a:lnTo>
                  <a:close/>
                </a:path>
              </a:pathLst>
            </a:custGeom>
            <a:solidFill>
              <a:srgbClr val="D8DBD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60063" cy="185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87680" y="0"/>
            <a:ext cx="8778240" cy="1219200"/>
            <a:chOff x="0" y="0"/>
            <a:chExt cx="11704320" cy="1625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Proposed Methodology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861" y="410523"/>
            <a:ext cx="2103825" cy="641995"/>
            <a:chOff x="0" y="0"/>
            <a:chExt cx="2805100" cy="8559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056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18369" y="328846"/>
            <a:ext cx="1710061" cy="805348"/>
            <a:chOff x="0" y="0"/>
            <a:chExt cx="2280082" cy="1073798"/>
          </a:xfrm>
        </p:grpSpPr>
        <p:sp>
          <p:nvSpPr>
            <p:cNvPr name="Freeform 15" id="15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9106" y="309879"/>
            <a:ext cx="8534400" cy="1185333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Proposed Methodology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06" y="1695431"/>
            <a:ext cx="8595389" cy="506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1054" indent="-200527" lvl="1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N4 Bias Field Correction: Removes low-frequency intensity inhomogeneity to achieve uniform signal distribution</a:t>
            </a:r>
          </a:p>
          <a:p>
            <a:pPr algn="l" marL="401054" indent="-200527" lvl="1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Intensity Standardization: Aligns intensity distribution for consistent processing across all scans</a:t>
            </a:r>
          </a:p>
          <a:p>
            <a:pPr algn="l" marL="401054" indent="-200527" lvl="1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Wiener Filtering (Denoising + Deconvolution): Reduces noise while preserving structural details and improving sharpness</a:t>
            </a:r>
          </a:p>
          <a:p>
            <a:pPr algn="l" marL="401054" indent="-200527" lvl="1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 Modeling: Compensates for resolution loss and restores anatomical clarity</a:t>
            </a:r>
          </a:p>
          <a:p>
            <a:pPr algn="l" marL="401054" indent="-200527" lvl="1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Refinement Stage: Applies mild smoothing and stabilization to avoid artifacts</a:t>
            </a:r>
          </a:p>
          <a:p>
            <a:pPr algn="l" marL="401054" indent="-200527" lvl="1">
              <a:lnSpc>
                <a:spcPts val="310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</a:t>
            </a: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 Output (Enhanced MRI): Produces improved SNR and better structural visibility while maintaining realism</a:t>
            </a:r>
          </a:p>
          <a:p>
            <a:pPr algn="l" marL="401151" indent="-200576" lvl="1">
              <a:lnSpc>
                <a:spcPts val="276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43840" y="590245"/>
            <a:ext cx="2103825" cy="641995"/>
            <a:chOff x="0" y="0"/>
            <a:chExt cx="2805100" cy="855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9" id="9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51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3840" y="590245"/>
            <a:ext cx="2103825" cy="641995"/>
            <a:chOff x="0" y="0"/>
            <a:chExt cx="2805100" cy="855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8" id="8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34213" y="2270596"/>
            <a:ext cx="8931707" cy="3063021"/>
          </a:xfrm>
          <a:custGeom>
            <a:avLst/>
            <a:gdLst/>
            <a:ahLst/>
            <a:cxnLst/>
            <a:rect r="r" b="b" t="t" l="l"/>
            <a:pathLst>
              <a:path h="3063021" w="8931707">
                <a:moveTo>
                  <a:pt x="0" y="0"/>
                </a:moveTo>
                <a:lnTo>
                  <a:pt x="8931707" y="0"/>
                </a:lnTo>
                <a:lnTo>
                  <a:pt x="8931707" y="3063021"/>
                </a:lnTo>
                <a:lnTo>
                  <a:pt x="0" y="3063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40" t="0" r="-144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7680" y="5434953"/>
            <a:ext cx="902994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HF Original       →    LF Simulated →     Enhanced Output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6177903"/>
            <a:ext cx="960013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image shows improved SNR, sharper edges, and better anatomical visibility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51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3840" y="590245"/>
            <a:ext cx="2103825" cy="641995"/>
            <a:chOff x="0" y="0"/>
            <a:chExt cx="2805100" cy="855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8" id="8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  <p:graphicFrame>
        <p:nvGraphicFramePr>
          <p:cNvPr name="Object 9" id="9"/>
          <p:cNvGraphicFramePr/>
          <p:nvPr/>
        </p:nvGraphicFramePr>
        <p:xfrm>
          <a:off x="918210" y="2714625"/>
          <a:ext cx="7543800" cy="1885950"/>
        </p:xfrm>
        <a:graphic>
          <a:graphicData uri="http://schemas.openxmlformats.org/presentationml/2006/ole">
            <p:oleObj imgW="9042400" imgH="33909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104900" y="5207471"/>
            <a:ext cx="7543800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oved edge sharpness and disc boundary visibility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details preserved without distortion</a:t>
            </a:r>
          </a:p>
          <a:p>
            <a:pPr algn="l" marL="539749" indent="-269875" lvl="1">
              <a:lnSpc>
                <a:spcPts val="32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reduction in noise and background artifacts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8210" y="1924050"/>
            <a:ext cx="75438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Representative Example: Patient 004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51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3840" y="590245"/>
            <a:ext cx="2103825" cy="641995"/>
            <a:chOff x="0" y="0"/>
            <a:chExt cx="2805100" cy="855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8" id="8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65805" y="1512151"/>
            <a:ext cx="8574287" cy="3798446"/>
          </a:xfrm>
          <a:custGeom>
            <a:avLst/>
            <a:gdLst/>
            <a:ahLst/>
            <a:cxnLst/>
            <a:rect r="r" b="b" t="t" l="l"/>
            <a:pathLst>
              <a:path h="3798446" w="8574287">
                <a:moveTo>
                  <a:pt x="0" y="0"/>
                </a:moveTo>
                <a:lnTo>
                  <a:pt x="8574288" y="0"/>
                </a:lnTo>
                <a:lnTo>
                  <a:pt x="8574288" y="3798445"/>
                </a:lnTo>
                <a:lnTo>
                  <a:pt x="0" y="3798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29" t="0" r="-629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7680" y="5577296"/>
            <a:ext cx="853440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Above Graph shows patient-wise comparison of SNR before and after enhancement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SNR improvement observed consistently across all patient scans</a:t>
            </a:r>
          </a:p>
          <a:p>
            <a:pPr algn="l">
              <a:lnSpc>
                <a:spcPts val="299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51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3840" y="590245"/>
            <a:ext cx="2103825" cy="641995"/>
            <a:chOff x="0" y="0"/>
            <a:chExt cx="2805100" cy="855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8" id="8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95752" y="1464260"/>
            <a:ext cx="7003916" cy="4122562"/>
          </a:xfrm>
          <a:custGeom>
            <a:avLst/>
            <a:gdLst/>
            <a:ahLst/>
            <a:cxnLst/>
            <a:rect r="r" b="b" t="t" l="l"/>
            <a:pathLst>
              <a:path h="4122562" w="7003916">
                <a:moveTo>
                  <a:pt x="0" y="0"/>
                </a:moveTo>
                <a:lnTo>
                  <a:pt x="7003916" y="0"/>
                </a:lnTo>
                <a:lnTo>
                  <a:pt x="7003916" y="4122561"/>
                </a:lnTo>
                <a:lnTo>
                  <a:pt x="0" y="41225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67" r="0" b="-96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1520" y="5577296"/>
            <a:ext cx="853440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Above Graph shows SNR progression across pipeline stages.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improvement observed after Wiener filtering stage.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 effectively balances noise reduction and detail preservation</a:t>
            </a:r>
          </a:p>
          <a:p>
            <a:pPr algn="l">
              <a:lnSpc>
                <a:spcPts val="299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51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0531" y="1716405"/>
            <a:ext cx="8595389" cy="415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research aligns with the following United Nations Sustainable Development Goals: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SDG 3 – Good Health and Well-Being: Improves diagnostic quality in low-resource and rural settings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SDG 9 – Industry, Innovation, and Infrastructure: Enables cost-effective and efficient medical imaging solutions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SDG 10 – Reduced Inequalities: Enhances accessibility of advanced imaging in underserved areas</a:t>
            </a:r>
          </a:p>
          <a:p>
            <a:pPr algn="l" marL="401151" indent="-200576" lvl="1">
              <a:lnSpc>
                <a:spcPts val="276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43840" y="590245"/>
            <a:ext cx="2103825" cy="641995"/>
            <a:chOff x="0" y="0"/>
            <a:chExt cx="2805100" cy="855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9" id="9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557629" y="569171"/>
            <a:ext cx="334982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SDG</a:t>
            </a: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Mapping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51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Conclusion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0531" y="1997061"/>
            <a:ext cx="8595389" cy="4095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Developed a classical pipeline for enhancing low-field lumbar spine MRI images</a:t>
            </a:r>
          </a:p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Simulated realistic low-field characteristics from high-field data</a:t>
            </a:r>
          </a:p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Achieved improved contrast, noise reduction, and structural clarity</a:t>
            </a:r>
          </a:p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Preserved anatomical details without introducing distortion</a:t>
            </a:r>
          </a:p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Quantitative metrics (SNR, SSIM, PSNR) show consistent improvement</a:t>
            </a:r>
          </a:p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Performance approaches deep learning-based methods under moderate conditions, without requiring large datasets or GPUs</a:t>
            </a:r>
          </a:p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Provides a simple, interpretable, and computationally efficient solution</a:t>
            </a:r>
          </a:p>
          <a:p>
            <a:pPr algn="l">
              <a:lnSpc>
                <a:spcPts val="299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43840" y="590245"/>
            <a:ext cx="2103825" cy="641995"/>
            <a:chOff x="0" y="0"/>
            <a:chExt cx="2805100" cy="855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9" id="9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51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References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0531" y="1474051"/>
            <a:ext cx="8595389" cy="547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Sheth et al., Portable low-field MRI for Alzheimer’s disease, Nature Communications, 2024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Arnold et al., Simulated diagnostic performance of low-field MRI, Magnetic Resonance Imaging, 2022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Salehi et al., Denoising low-field MR images using deep learning, Journal of Magnetic Resonance, 2025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Gupta et al., Image denoising using BM4D filtering, Scientific Reports, 2023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Manjón et al., Adaptive non-local means denoising of MR images, Journal of Magnetic Resonance Imaging, 2010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Erwin et al., Image enhancement using CLAHE and filtering methods, IJIGSP, 2020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Ayde et al., Zero-shot deep learning denoising for low-field MRI, MAGMA, 2025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Dabov et al., BM3D image denoising method, IEEE Transactions on Image Processing, 2007</a:t>
            </a:r>
          </a:p>
          <a:p>
            <a:pPr algn="l">
              <a:lnSpc>
                <a:spcPts val="240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43840" y="590245"/>
            <a:ext cx="2103825" cy="641995"/>
            <a:chOff x="0" y="0"/>
            <a:chExt cx="2805100" cy="8559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05049" cy="855980"/>
            </a:xfrm>
            <a:custGeom>
              <a:avLst/>
              <a:gdLst/>
              <a:ahLst/>
              <a:cxnLst/>
              <a:rect r="r" b="b" t="t" l="l"/>
              <a:pathLst>
                <a:path h="855980" w="2805049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05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09325" y="499872"/>
            <a:ext cx="1710061" cy="805348"/>
            <a:chOff x="0" y="0"/>
            <a:chExt cx="2280082" cy="1073798"/>
          </a:xfrm>
        </p:grpSpPr>
        <p:sp>
          <p:nvSpPr>
            <p:cNvPr name="Freeform 9" id="9" descr="icot 2023 Trifold Brochure_14.02.2023"/>
            <p:cNvSpPr/>
            <p:nvPr/>
          </p:nvSpPr>
          <p:spPr>
            <a:xfrm flipH="false" flipV="false" rot="0">
              <a:off x="0" y="0"/>
              <a:ext cx="2280031" cy="1073785"/>
            </a:xfrm>
            <a:custGeom>
              <a:avLst/>
              <a:gdLst/>
              <a:ahLst/>
              <a:cxnLst/>
              <a:rect r="r" b="b" t="t" l="l"/>
              <a:pathLst>
                <a:path h="1073785" w="2280031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DAHCiD0uPxw</dc:identifier>
  <dcterms:modified xsi:type="dcterms:W3CDTF">2011-08-01T06:04:30Z</dcterms:modified>
  <cp:revision>1</cp:revision>
  <dc:title>Minor Project_Ctech PPT Template (1).pptx</dc:title>
</cp:coreProperties>
</file>