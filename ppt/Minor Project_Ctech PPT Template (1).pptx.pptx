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6" r:id="rId8"/>
    <p:sldId id="267" r:id="rId9"/>
  </p:sldIdLst>
  <p:sldSz cx="9753600" cy="7315200"/>
  <p:notesSz cx="6858000" cy="9144000"/>
  <p:embeddedFontLst>
    <p:embeddedFont>
      <p:font typeface="Calibri (MS)" panose="020B0604020202020204" charset="0"/>
      <p:regular r:id="rId10"/>
    </p:embeddedFont>
    <p:embeddedFont>
      <p:font typeface="Times New Roman Bold" panose="020208030705050203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142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1725558"/>
            <a:ext cx="8638784" cy="2371593"/>
            <a:chOff x="0" y="0"/>
            <a:chExt cx="11518379" cy="31621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18380" cy="3162126"/>
            </a:xfrm>
            <a:custGeom>
              <a:avLst/>
              <a:gdLst/>
              <a:ahLst/>
              <a:cxnLst/>
              <a:rect l="l" t="t" r="r" b="b"/>
              <a:pathLst>
                <a:path w="11518380" h="3162126">
                  <a:moveTo>
                    <a:pt x="0" y="0"/>
                  </a:moveTo>
                  <a:lnTo>
                    <a:pt x="11518380" y="0"/>
                  </a:lnTo>
                  <a:lnTo>
                    <a:pt x="11518380" y="3162126"/>
                  </a:lnTo>
                  <a:lnTo>
                    <a:pt x="0" y="3162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056" r="4030" b="-117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1518379" cy="31906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Edge Preserving Enhancement of Spinal Anatomy in Low-Field MRI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22847" y="4310329"/>
            <a:ext cx="4729505" cy="1638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ID: B929</a:t>
            </a:r>
          </a:p>
          <a:p>
            <a:pPr algn="ctr">
              <a:lnSpc>
                <a:spcPts val="1802"/>
              </a:lnSpc>
            </a:pPr>
            <a:endParaRPr lang="en-US" sz="1877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1 Reg. No: RA2311003011460</a:t>
            </a: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1 Name: T Barathkalyan</a:t>
            </a:r>
          </a:p>
          <a:p>
            <a:pPr algn="ctr">
              <a:lnSpc>
                <a:spcPts val="1802"/>
              </a:lnSpc>
            </a:pPr>
            <a:endParaRPr lang="en-US" sz="1877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2 Reg. No: RA2311003011470</a:t>
            </a:r>
          </a:p>
          <a:p>
            <a:pPr algn="ctr">
              <a:lnSpc>
                <a:spcPts val="1802"/>
              </a:lnSpc>
            </a:pPr>
            <a:r>
              <a:rPr lang="en-US" sz="1877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2 Name: Sarukeshwar 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8590" y="259832"/>
            <a:ext cx="1495911" cy="545411"/>
            <a:chOff x="0" y="0"/>
            <a:chExt cx="1994548" cy="7272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94535" cy="727202"/>
            </a:xfrm>
            <a:custGeom>
              <a:avLst/>
              <a:gdLst/>
              <a:ahLst/>
              <a:cxnLst/>
              <a:rect l="l" t="t" r="r" b="b"/>
              <a:pathLst>
                <a:path w="1994535" h="727202">
                  <a:moveTo>
                    <a:pt x="0" y="0"/>
                  </a:moveTo>
                  <a:lnTo>
                    <a:pt x="1994535" y="0"/>
                  </a:lnTo>
                  <a:lnTo>
                    <a:pt x="1994535" y="727202"/>
                  </a:lnTo>
                  <a:lnTo>
                    <a:pt x="0" y="727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063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92046" y="323469"/>
            <a:ext cx="6400829" cy="120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SRM INSTITUTE OF SCIENCE AND TECHNOLOGY </a:t>
            </a:r>
          </a:p>
          <a:p>
            <a:pPr algn="ctr">
              <a:lnSpc>
                <a:spcPts val="2304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SCHOOL OF COMPUTING</a:t>
            </a:r>
          </a:p>
          <a:p>
            <a:pPr algn="ctr">
              <a:lnSpc>
                <a:spcPts val="2304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COMPUTING TECHNOLOGIES</a:t>
            </a:r>
          </a:p>
          <a:p>
            <a:pPr algn="ctr">
              <a:lnSpc>
                <a:spcPts val="2304"/>
              </a:lnSpc>
            </a:pPr>
            <a:r>
              <a:rPr lang="en-US" sz="19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21CSP302L - MINOR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21" y="4215079"/>
            <a:ext cx="3520469" cy="82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365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name: Dr.E. Poovammal</a:t>
            </a:r>
          </a:p>
          <a:p>
            <a:pPr algn="ctr">
              <a:lnSpc>
                <a:spcPts val="2228"/>
              </a:lnSpc>
            </a:pPr>
            <a:r>
              <a:rPr lang="en-US" sz="1365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Designation: Professor</a:t>
            </a:r>
          </a:p>
          <a:p>
            <a:pPr algn="ctr">
              <a:lnSpc>
                <a:spcPts val="2228"/>
              </a:lnSpc>
            </a:pPr>
            <a:r>
              <a:rPr lang="en-US" sz="1365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Department: C.Tech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177146" y="91583"/>
            <a:ext cx="1576454" cy="742426"/>
            <a:chOff x="0" y="0"/>
            <a:chExt cx="2101939" cy="989901"/>
          </a:xfrm>
        </p:grpSpPr>
        <p:sp>
          <p:nvSpPr>
            <p:cNvPr id="11" name="Freeform 11" descr="icot 2023 Trifold Brochure_14.02.2023"/>
            <p:cNvSpPr/>
            <p:nvPr/>
          </p:nvSpPr>
          <p:spPr>
            <a:xfrm>
              <a:off x="0" y="0"/>
              <a:ext cx="2101977" cy="989965"/>
            </a:xfrm>
            <a:custGeom>
              <a:avLst/>
              <a:gdLst/>
              <a:ahLst/>
              <a:cxnLst/>
              <a:rect l="l" t="t" r="r" b="b"/>
              <a:pathLst>
                <a:path w="2101977" h="989965">
                  <a:moveTo>
                    <a:pt x="0" y="0"/>
                  </a:moveTo>
                  <a:lnTo>
                    <a:pt x="2101977" y="0"/>
                  </a:lnTo>
                  <a:lnTo>
                    <a:pt x="2101977" y="989965"/>
                  </a:lnTo>
                  <a:lnTo>
                    <a:pt x="0" y="989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9106" y="1892341"/>
            <a:ext cx="8595389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Low-field MRI scanners (0.1–0.5 T) produce images with much lower quality, about 3–6 times noisier than standard 1.5 T scans, which in the lumbar spine can blur disc edges, obscure nerve compression, and reduce fat–fluid contrast, all critical for diagnosis. Current solutions often rely on AI super-resolution models, but these require large paired datasets, high-end GPUs, and produce black-box results, making them challenging for smaller clinics and regulatory approval. Our approach takes a different path: we simulate low-field images from high-field scans using physics-based rules and then restore them step by step with a fully classical, interpretable pipeline that runs on a standard computer and works consistently across scanners.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96645" y="269248"/>
            <a:ext cx="2103825" cy="641995"/>
            <a:chOff x="0" y="0"/>
            <a:chExt cx="2805100" cy="8559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6254" y="269248"/>
            <a:ext cx="8778240" cy="1219200"/>
            <a:chOff x="0" y="0"/>
            <a:chExt cx="11704320" cy="1625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Problem Statement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29568" y="187571"/>
            <a:ext cx="1710061" cy="805348"/>
            <a:chOff x="0" y="0"/>
            <a:chExt cx="2280082" cy="1073798"/>
          </a:xfrm>
        </p:grpSpPr>
        <p:sp>
          <p:nvSpPr>
            <p:cNvPr id="9" name="Freeform 9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Objectives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06" y="1493101"/>
            <a:ext cx="8595389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simulate realistic low-field lumbar spine MRI from high-field data by modeling reduced spatial resolution and noise characteristics observed in low-field systems.</a:t>
            </a:r>
          </a:p>
          <a:p>
            <a:pPr algn="just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design and develop a structured enhancement framework to improve the visual and structural quality of low-field MRI images.</a:t>
            </a:r>
          </a:p>
          <a:p>
            <a:pPr algn="just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apply preprocessing and image quality optimization techniques to enhance contrast, clarity, and anatomical interpretability while preserving structural integrity.</a:t>
            </a:r>
          </a:p>
          <a:p>
            <a:pPr algn="just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quantitatively evaluate the enhancement performance using similarity and signal-based metrics with respect to the original high-field reference image.</a:t>
            </a:r>
          </a:p>
          <a:p>
            <a:pPr algn="just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 establish a computationally efficient and fully interpretable classical enhancement baseline that approaches high-field perceptual quality without relying on deep learning methods.</a:t>
            </a:r>
          </a:p>
          <a:p>
            <a:pPr algn="just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43840" y="590245"/>
            <a:ext cx="2103825" cy="641995"/>
            <a:chOff x="0" y="0"/>
            <a:chExt cx="2805100" cy="855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09325" y="499872"/>
            <a:ext cx="1710061" cy="805348"/>
            <a:chOff x="0" y="0"/>
            <a:chExt cx="2280082" cy="1073798"/>
          </a:xfrm>
        </p:grpSpPr>
        <p:sp>
          <p:nvSpPr>
            <p:cNvPr id="9" name="Freeform 9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46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20"/>
                </a:lnSpc>
              </a:pPr>
              <a:r>
                <a:rPr lang="en-US" sz="426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Proposed Methodology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3840" y="590245"/>
            <a:ext cx="2103825" cy="641995"/>
            <a:chOff x="0" y="0"/>
            <a:chExt cx="2805100" cy="8559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09325" y="499872"/>
            <a:ext cx="1710061" cy="805348"/>
            <a:chOff x="0" y="0"/>
            <a:chExt cx="2280082" cy="1073798"/>
          </a:xfrm>
        </p:grpSpPr>
        <p:sp>
          <p:nvSpPr>
            <p:cNvPr id="8" name="Freeform 8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Freeform 9"/>
          <p:cNvSpPr/>
          <p:nvPr/>
        </p:nvSpPr>
        <p:spPr>
          <a:xfrm>
            <a:off x="609600" y="1783080"/>
            <a:ext cx="8534400" cy="4800600"/>
          </a:xfrm>
          <a:custGeom>
            <a:avLst/>
            <a:gdLst/>
            <a:ahLst/>
            <a:cxnLst/>
            <a:rect l="l" t="t" r="r" b="b"/>
            <a:pathLst>
              <a:path w="8534400" h="4800600">
                <a:moveTo>
                  <a:pt x="0" y="0"/>
                </a:moveTo>
                <a:lnTo>
                  <a:pt x="8534400" y="0"/>
                </a:lnTo>
                <a:lnTo>
                  <a:pt x="8534400" y="4800600"/>
                </a:lnTo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534400" cy="1185333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1704320" cy="169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0"/>
                </a:lnSpc>
              </a:pPr>
              <a:r>
                <a:rPr lang="en-US" sz="306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Proposed Methodology (cont.)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06" y="1733531"/>
            <a:ext cx="8595389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N4 Bias Correction Removes slow spatial intensity bias in MRI (applied conditionally if significant).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BM3D Denoising Reduces noise while strongly preserving edges and fine structural details.</a:t>
            </a:r>
          </a:p>
          <a:p>
            <a:pPr marL="401151" lvl="1" indent="-200576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Wiener Deconvolution Sharpens image by reversing anisotropic blur with minimal ringing artifacts.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CLAHE Boosts local contrast adaptively without excessively amplifying background noise.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Structure Tensor Edge Enhancement Directionally sharpens tissue boundaries along principal orientation with low gain.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Edge-gated Unsharp Mask Mildly sharpens only strong edges while protecting smooth uniform regions.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Gamma + Dynamic Range Compression Adjusts brightness perceptually and clips extremes for improved display contrast.</a:t>
            </a:r>
          </a:p>
          <a:p>
            <a:pPr marL="401151" lvl="1" indent="-200576" algn="l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43840" y="590245"/>
            <a:ext cx="2103825" cy="641995"/>
            <a:chOff x="0" y="0"/>
            <a:chExt cx="2805100" cy="855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09325" y="499872"/>
            <a:ext cx="1710061" cy="805348"/>
            <a:chOff x="0" y="0"/>
            <a:chExt cx="2280082" cy="1073798"/>
          </a:xfrm>
        </p:grpSpPr>
        <p:sp>
          <p:nvSpPr>
            <p:cNvPr id="9" name="Freeform 9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20"/>
                </a:lnSpc>
              </a:pPr>
              <a:r>
                <a:rPr lang="en-US" sz="426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Expected Outcome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7680" y="1421130"/>
            <a:ext cx="8595389" cy="550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 / Research Output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research presents an interpretable image enhancement framework for low-field lumbar spine MRI. The system simulates realistic low-field characteristics from high-field data and applies a structured classical enhancement pipeline to improve contrast, clarity, and structural visibility without using deep learning models.</a:t>
            </a:r>
          </a:p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Outputs of the System 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framework emphasizes computational efficiency, reproducibility, and practical clinical usability.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Outputs of the System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Simulated low-field lumbar MRI from high-field reference images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Enhanced low-field MRI with improved contrast and edge clarity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Quantitative evaluation using SSIM and PSNR metrics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Noise-reduced and structure-preserved diagnostic outputs</a:t>
            </a: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Interpretable classical enhancement baseline (no GPU required)</a:t>
            </a:r>
          </a:p>
          <a:p>
            <a:pPr marL="401151" lvl="1" indent="-200576" algn="l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43840" y="590245"/>
            <a:ext cx="2103825" cy="641995"/>
            <a:chOff x="0" y="0"/>
            <a:chExt cx="2805100" cy="855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09325" y="499872"/>
            <a:ext cx="1710061" cy="805348"/>
            <a:chOff x="0" y="0"/>
            <a:chExt cx="2280082" cy="1073798"/>
          </a:xfrm>
        </p:grpSpPr>
        <p:sp>
          <p:nvSpPr>
            <p:cNvPr id="9" name="Freeform 9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4320" cy="1711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60"/>
                </a:lnSpc>
              </a:pPr>
              <a:r>
                <a:rPr lang="en-US" sz="396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Expected Outcome (cont.)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0531" y="1716405"/>
            <a:ext cx="8595389" cy="521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SDG Mapping</a:t>
            </a:r>
          </a:p>
          <a:p>
            <a:pPr algn="l">
              <a:lnSpc>
                <a:spcPts val="2999"/>
              </a:lnSpc>
            </a:pPr>
            <a:endParaRPr lang="en-US" sz="2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aligns with the following United Nations Sustainable Development Goals:</a:t>
            </a:r>
          </a:p>
          <a:p>
            <a:pPr algn="l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SDG 3 – Good Health and Well-Being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improved diagnostic accessibility by enhancing low-field MRI quality in resource-limited and rural healthcare settings.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SDG 9 – Industry, Innovation, and Infrastructure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innovation in cost-effective medical imaging technologies through computationally efficient enhancement methods.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SDG 10 – Reduced Inequalities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Contributes toward reducing disparities in advanced medical imaging access by improving the usability of low-field MRI systems.</a:t>
            </a:r>
          </a:p>
          <a:p>
            <a:pPr marL="401151" lvl="1" indent="-200576" algn="l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43840" y="590245"/>
            <a:ext cx="2103825" cy="641995"/>
            <a:chOff x="0" y="0"/>
            <a:chExt cx="2805100" cy="855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09325" y="499872"/>
            <a:ext cx="1710061" cy="805348"/>
            <a:chOff x="0" y="0"/>
            <a:chExt cx="2280082" cy="1073798"/>
          </a:xfrm>
        </p:grpSpPr>
        <p:sp>
          <p:nvSpPr>
            <p:cNvPr id="9" name="Freeform 9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" y="292951"/>
            <a:ext cx="8778240" cy="1219200"/>
            <a:chOff x="0" y="0"/>
            <a:chExt cx="11704320" cy="1625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4320" cy="1625600"/>
            </a:xfrm>
            <a:custGeom>
              <a:avLst/>
              <a:gdLst/>
              <a:ahLst/>
              <a:cxnLst/>
              <a:rect l="l" t="t" r="r" b="b"/>
              <a:pathLst>
                <a:path w="11704320" h="1625600">
                  <a:moveTo>
                    <a:pt x="0" y="0"/>
                  </a:moveTo>
                  <a:lnTo>
                    <a:pt x="11704320" y="0"/>
                  </a:lnTo>
                  <a:lnTo>
                    <a:pt x="11704320" y="1625600"/>
                  </a:lnTo>
                  <a:lnTo>
                    <a:pt x="0" y="1625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92" b="-9029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04320" cy="1720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120"/>
                </a:lnSpc>
              </a:pPr>
              <a:r>
                <a:rPr lang="en-US" sz="426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Conclusion 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101" y="1733531"/>
            <a:ext cx="8595389" cy="481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presents a computationally efficient classical framework for enhancing low-field lumbar spine MRI images. Realistic low-field characteristics are first simulated from high-field data, and a structured multi-stage enhancement process is applied to improve contrast, reduce noise, and strengthen structural clarity while preserving anatomical details.</a:t>
            </a:r>
          </a:p>
          <a:p>
            <a:pPr algn="l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1054" lvl="1" indent="-200527" algn="l">
              <a:lnSpc>
                <a:spcPts val="276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avoiding deep learning models and heavy GPU requirements, the framework ensures interpretability, reproducibility, and practical deployability. Quantitative evaluation demonstrates that classical methods can significantly improve low-field image quality and move it closer to high-field standards, establishing a reliable and efficient baseline for low-field MRI enhancement.</a:t>
            </a:r>
          </a:p>
          <a:p>
            <a:pPr marL="401151" lvl="1" indent="-200576" algn="l">
              <a:lnSpc>
                <a:spcPts val="2760"/>
              </a:lnSpc>
            </a:pPr>
            <a:endParaRPr lang="en-US"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43840" y="590245"/>
            <a:ext cx="2103825" cy="641995"/>
            <a:chOff x="0" y="0"/>
            <a:chExt cx="2805100" cy="8559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05049" cy="855980"/>
            </a:xfrm>
            <a:custGeom>
              <a:avLst/>
              <a:gdLst/>
              <a:ahLst/>
              <a:cxnLst/>
              <a:rect l="l" t="t" r="r" b="b"/>
              <a:pathLst>
                <a:path w="2805049" h="855980">
                  <a:moveTo>
                    <a:pt x="0" y="0"/>
                  </a:moveTo>
                  <a:lnTo>
                    <a:pt x="2805049" y="0"/>
                  </a:lnTo>
                  <a:lnTo>
                    <a:pt x="2805049" y="855980"/>
                  </a:lnTo>
                  <a:lnTo>
                    <a:pt x="0" y="85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05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09325" y="499872"/>
            <a:ext cx="1710061" cy="805348"/>
            <a:chOff x="0" y="0"/>
            <a:chExt cx="2280082" cy="1073798"/>
          </a:xfrm>
        </p:grpSpPr>
        <p:sp>
          <p:nvSpPr>
            <p:cNvPr id="9" name="Freeform 9" descr="icot 2023 Trifold Brochure_14.02.2023"/>
            <p:cNvSpPr/>
            <p:nvPr/>
          </p:nvSpPr>
          <p:spPr>
            <a:xfrm>
              <a:off x="0" y="0"/>
              <a:ext cx="2280031" cy="1073785"/>
            </a:xfrm>
            <a:custGeom>
              <a:avLst/>
              <a:gdLst/>
              <a:ahLst/>
              <a:cxnLst/>
              <a:rect l="l" t="t" r="r" b="b"/>
              <a:pathLst>
                <a:path w="2280031" h="1073785">
                  <a:moveTo>
                    <a:pt x="0" y="0"/>
                  </a:moveTo>
                  <a:lnTo>
                    <a:pt x="2280031" y="0"/>
                  </a:lnTo>
                  <a:lnTo>
                    <a:pt x="2280031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Custom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Times New Roman Bold</vt:lpstr>
      <vt:lpstr>Calibri</vt:lpstr>
      <vt:lpstr>Calibri (MS)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 Project_Ctech PPT Template (1).pptx</dc:title>
  <cp:lastModifiedBy>SARUKESHWAR SIDHARTHAN (RA2311003011470)</cp:lastModifiedBy>
  <cp:revision>2</cp:revision>
  <dcterms:created xsi:type="dcterms:W3CDTF">2006-08-16T00:00:00Z</dcterms:created>
  <dcterms:modified xsi:type="dcterms:W3CDTF">2026-04-16T15:51:14Z</dcterms:modified>
  <dc:identifier>DAHCiD0uPxw</dc:identifier>
</cp:coreProperties>
</file>